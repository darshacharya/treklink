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1"/>
  </p:handoutMasterIdLst>
  <p:sldIdLst>
    <p:sldId id="256" r:id="rId3"/>
    <p:sldId id="257" r:id="rId5"/>
    <p:sldId id="269" r:id="rId6"/>
    <p:sldId id="276" r:id="rId7"/>
    <p:sldId id="260" r:id="rId8"/>
    <p:sldId id="261" r:id="rId9"/>
    <p:sldId id="277" r:id="rId10"/>
    <p:sldId id="271" r:id="rId11"/>
    <p:sldId id="272" r:id="rId12"/>
    <p:sldId id="262" r:id="rId13"/>
    <p:sldId id="263" r:id="rId14"/>
    <p:sldId id="264" r:id="rId15"/>
    <p:sldId id="265" r:id="rId16"/>
    <p:sldId id="266" r:id="rId17"/>
    <p:sldId id="270" r:id="rId18"/>
    <p:sldId id="267" r:id="rId19"/>
    <p:sldId id="279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howGuides="1">
      <p:cViewPr varScale="1">
        <p:scale>
          <a:sx n="71" d="100"/>
          <a:sy n="71" d="100"/>
        </p:scale>
        <p:origin x="1742" y="28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56F3D7-7BE3-48E2-90FE-4D38A54F121F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EAB71-6ADF-494C-9D4F-28209F59E3B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94FC36-5B58-43CC-B301-AD834FF77751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41298-0412-4BBC-B154-76410E64DAAD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641298-0412-4BBC-B154-76410E64DAAD}" type="slidenum">
              <a:rPr lang="en-IN" smtClean="0"/>
            </a:fld>
            <a:endParaRPr lang="en-I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6C8FCCC-71A3-4F55-B763-2E0CB47EF8BB}" type="datetime1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641298-0412-4BBC-B154-76410E64DAAD}" type="slidenum">
              <a:rPr lang="en-IN" smtClean="0"/>
            </a:fld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B2005AF4-7E73-40CA-90FD-14B3A490E1BF}" type="datetime1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641298-0412-4BBC-B154-76410E64DAAD}" type="slidenum">
              <a:rPr lang="en-IN" smtClean="0"/>
            </a:fld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B2005AF4-7E73-40CA-90FD-14B3A490E1BF}" type="datetime1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641298-0412-4BBC-B154-76410E64DAAD}" type="slidenum">
              <a:rPr lang="en-IN" smtClean="0"/>
            </a:fld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B2005AF4-7E73-40CA-90FD-14B3A490E1BF}" type="datetime1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641298-0412-4BBC-B154-76410E64DAAD}" type="slidenum">
              <a:rPr lang="en-IN" smtClean="0"/>
            </a:fld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B2005AF4-7E73-40CA-90FD-14B3A490E1BF}" type="datetime1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641298-0412-4BBC-B154-76410E64DAAD}" type="slidenum">
              <a:rPr lang="en-IN" smtClean="0"/>
            </a:fld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B2005AF4-7E73-40CA-90FD-14B3A490E1BF}" type="datetime1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641298-0412-4BBC-B154-76410E64DAAD}" type="slidenum">
              <a:rPr lang="en-IN" smtClean="0"/>
            </a:fld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B2005AF4-7E73-40CA-90FD-14B3A490E1BF}" type="datetime1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641298-0412-4BBC-B154-76410E64DAAD}" type="slidenum">
              <a:rPr lang="en-IN" smtClean="0"/>
            </a:fld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B2005AF4-7E73-40CA-90FD-14B3A490E1BF}" type="datetime1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641298-0412-4BBC-B154-76410E64DAAD}" type="slidenum">
              <a:rPr lang="en-IN" smtClean="0"/>
            </a:fld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B2005AF4-7E73-40CA-90FD-14B3A490E1BF}" type="datetime1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641298-0412-4BBC-B154-76410E64DAAD}" type="slidenum">
              <a:rPr lang="en-IN" smtClean="0"/>
            </a:fld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B2005AF4-7E73-40CA-90FD-14B3A490E1BF}" type="datetime1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641298-0412-4BBC-B154-76410E64DAAD}" type="slidenum">
              <a:rPr lang="en-IN" smtClean="0"/>
            </a:fld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B2005AF4-7E73-40CA-90FD-14B3A490E1BF}" type="datetime1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641298-0412-4BBC-B154-76410E64DAAD}" type="slidenum">
              <a:rPr lang="en-IN" smtClean="0"/>
            </a:fld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B2005AF4-7E73-40CA-90FD-14B3A490E1BF}" type="datetime1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641298-0412-4BBC-B154-76410E64DAAD}" type="slidenum">
              <a:rPr lang="en-IN" smtClean="0"/>
            </a:fld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B2005AF4-7E73-40CA-90FD-14B3A490E1BF}" type="datetime1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641298-0412-4BBC-B154-76410E64DAAD}" type="slidenum">
              <a:rPr lang="en-IN" smtClean="0"/>
            </a:fld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B2005AF4-7E73-40CA-90FD-14B3A490E1BF}" type="datetime1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641298-0412-4BBC-B154-76410E64DAAD}" type="slidenum">
              <a:rPr lang="en-IN" smtClean="0"/>
            </a:fld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B2005AF4-7E73-40CA-90FD-14B3A490E1BF}" type="datetime1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641298-0412-4BBC-B154-76410E64DAAD}" type="slidenum">
              <a:rPr lang="en-IN" smtClean="0"/>
            </a:fld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B2005AF4-7E73-40CA-90FD-14B3A490E1BF}" type="datetime1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641298-0412-4BBC-B154-76410E64DAAD}" type="slidenum">
              <a:rPr lang="en-IN" smtClean="0"/>
            </a:fld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B2005AF4-7E73-40CA-90FD-14B3A490E1BF}" type="datetime1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D5970-8C77-423A-9FEA-85206E82E23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7B26C-2BD2-40C8-9F2D-2C5E09392530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27B99-C27A-459C-BB87-52EA96B07DA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3496F-F8A5-4392-BA4B-A680C2930FB1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00CDC-B9C1-44DE-9566-359AA8306A66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F840A-E30D-4584-A230-F7F08771B4AA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6471-6211-495D-A4B6-4ACCCC931986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E4A9A-B97F-4D68-88F2-750FED65C439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F398D-AB88-4A7F-97A2-DCB001E08FA1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5428-E86F-4227-950A-FB488DA79C72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EA561-B204-41F8-BE8C-F115B39A6DC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04978B-8A71-4510-98B9-87908FB3C93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16685"/>
            <a:ext cx="8001000" cy="2487295"/>
          </a:xfrm>
        </p:spPr>
        <p:txBody>
          <a:bodyPr>
            <a:normAutofit/>
          </a:bodyPr>
          <a:lstStyle/>
          <a:p>
            <a:r>
              <a:rPr lang="en-IN" sz="2200" dirty="0"/>
              <a:t>M.Tech. in Information Technology</a:t>
            </a:r>
            <a:br>
              <a:rPr lang="en-IN" dirty="0"/>
            </a:br>
            <a:r>
              <a:rPr lang="en-IN" sz="3600" dirty="0"/>
              <a:t>Internship Evaluation </a:t>
            </a:r>
            <a:r>
              <a:rPr lang="en-IN" sz="2700" dirty="0"/>
              <a:t>(AY: 2025-26)</a:t>
            </a:r>
            <a:br>
              <a:rPr lang="en-IN" sz="2700" dirty="0"/>
            </a:br>
            <a:r>
              <a:rPr lang="en-IN" sz="3600" dirty="0"/>
              <a:t>Review-II</a:t>
            </a:r>
            <a:br>
              <a:rPr lang="en-IN" sz="3600" dirty="0"/>
            </a:br>
            <a:r>
              <a:rPr lang="en-IN" sz="2700" dirty="0"/>
              <a:t>(MIT434N)</a:t>
            </a:r>
            <a:br>
              <a:rPr lang="en-IN" sz="2700" dirty="0"/>
            </a:br>
            <a:r>
              <a:rPr lang="en-US" altLang="en-US" sz="2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IoT LoRa-Based Multi-Node Environmental Monitoring </a:t>
            </a:r>
            <a:endParaRPr lang="en-US" altLang="en-US" sz="27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1" y="91157"/>
            <a:ext cx="3276599" cy="105184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00" y="925006"/>
            <a:ext cx="5333999" cy="380999"/>
          </a:xfrm>
          <a:prstGeom prst="rect">
            <a:avLst/>
          </a:prstGeom>
        </p:spPr>
      </p:pic>
      <p:sp>
        <p:nvSpPr>
          <p:cNvPr id="90" name="Google Shape;90;p1"/>
          <p:cNvSpPr txBox="1">
            <a:spLocks noGrp="1"/>
          </p:cNvSpPr>
          <p:nvPr/>
        </p:nvSpPr>
        <p:spPr>
          <a:xfrm>
            <a:off x="539750" y="4004945"/>
            <a:ext cx="8229600" cy="2362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rmAutofit fontScale="5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 panose="020B0604020202020204"/>
              <a:buNone/>
              <a:defRPr sz="3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b="1">
                <a:solidFill>
                  <a:schemeClr val="tx1"/>
                </a:solidFill>
              </a:rPr>
              <a:t>SUDARSHAN T S </a:t>
            </a:r>
            <a:endParaRPr b="1"/>
          </a:p>
          <a:p>
            <a:pPr marL="0" lvl="0" indent="0" algn="ctr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>
                <a:solidFill>
                  <a:schemeClr val="dk1"/>
                </a:solidFill>
              </a:rPr>
              <a:t>1RV24SIT</a:t>
            </a:r>
            <a:r>
              <a:rPr lang="en-IN" altLang="en-US" b="1">
                <a:solidFill>
                  <a:schemeClr val="dk1"/>
                </a:solidFill>
              </a:rPr>
              <a:t>14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35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19000"/>
              <a:buNone/>
            </a:pPr>
            <a:r>
              <a:rPr lang="en-IN" altLang="en-US" sz="2700" b="1">
                <a:solidFill>
                  <a:schemeClr val="dk1"/>
                </a:solidFill>
                <a:highlight>
                  <a:srgbClr val="FFFFFF"/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Prof. Sushmitha N</a:t>
            </a:r>
            <a:r>
              <a:rPr lang="en-US" b="1">
                <a:solidFill>
                  <a:schemeClr val="dk1"/>
                </a:solidFill>
              </a:rPr>
              <a:t>	 </a:t>
            </a:r>
            <a:r>
              <a:rPr lang="en-US">
                <a:solidFill>
                  <a:schemeClr val="dk1"/>
                </a:solidFill>
              </a:rPr>
              <a:t>			       </a:t>
            </a:r>
            <a:r>
              <a:rPr lang="en-IN" altLang="en-US">
                <a:solidFill>
                  <a:schemeClr val="dk1"/>
                </a:solidFill>
              </a:rPr>
              <a:t>                  </a:t>
            </a:r>
            <a:r>
              <a:rPr lang="en-IN" altLang="en-US" b="1">
                <a:solidFill>
                  <a:schemeClr val="dk1"/>
                </a:solidFill>
              </a:rPr>
              <a:t>Dr. Renuka Prasad B</a:t>
            </a:r>
            <a:r>
              <a:rPr lang="en-US">
                <a:solidFill>
                  <a:schemeClr val="dk1"/>
                </a:solidFill>
              </a:rPr>
              <a:t>                   </a:t>
            </a:r>
            <a:endParaRPr b="1"/>
          </a:p>
          <a:p>
            <a:pPr marL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</a:rPr>
              <a:t>Assistant Professor	 </a:t>
            </a:r>
            <a:r>
              <a:rPr lang="en-IN" altLang="en-US">
                <a:solidFill>
                  <a:schemeClr val="dk1"/>
                </a:solidFill>
              </a:rPr>
              <a:t>                                                                             </a:t>
            </a:r>
            <a:r>
              <a:rPr lang="en-US">
                <a:solidFill>
                  <a:schemeClr val="dk1"/>
                </a:solidFill>
                <a:sym typeface="+mn-ea"/>
              </a:rPr>
              <a:t>Assistant Professor</a:t>
            </a:r>
            <a:r>
              <a:rPr lang="en-US">
                <a:solidFill>
                  <a:schemeClr val="dk1"/>
                </a:solidFill>
              </a:rPr>
              <a:t>         </a:t>
            </a:r>
            <a:r>
              <a:rPr lang="en-IN" altLang="en-US">
                <a:solidFill>
                  <a:schemeClr val="dk1"/>
                </a:solidFill>
              </a:rPr>
              <a:t>    </a:t>
            </a:r>
            <a:r>
              <a:rPr lang="en-US">
                <a:solidFill>
                  <a:schemeClr val="dk1"/>
                </a:solidFill>
              </a:rPr>
              <a:t>Dept. of ISE				</a:t>
            </a:r>
            <a:r>
              <a:rPr lang="en-IN" altLang="en-US">
                <a:solidFill>
                  <a:schemeClr val="dk1"/>
                </a:solidFill>
              </a:rPr>
              <a:t>                         </a:t>
            </a:r>
            <a:r>
              <a:rPr lang="en-US">
                <a:solidFill>
                  <a:schemeClr val="dk1"/>
                </a:solidFill>
                <a:sym typeface="+mn-ea"/>
              </a:rPr>
              <a:t>Dept. of </a:t>
            </a:r>
            <a:r>
              <a:rPr lang="en-IN" altLang="en-US">
                <a:solidFill>
                  <a:schemeClr val="dk1"/>
                </a:solidFill>
                <a:sym typeface="+mn-ea"/>
              </a:rPr>
              <a:t>MCA</a:t>
            </a:r>
            <a:r>
              <a:rPr lang="en-US">
                <a:solidFill>
                  <a:schemeClr val="dk1"/>
                </a:solidFill>
              </a:rPr>
              <a:t>	                          </a:t>
            </a:r>
            <a:endParaRPr lang="en-US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</a:rPr>
              <a:t>RVCE</a:t>
            </a:r>
            <a:r>
              <a:rPr lang="en-IN" altLang="en-US">
                <a:solidFill>
                  <a:schemeClr val="dk1"/>
                </a:solidFill>
              </a:rPr>
              <a:t>                                                                                                         CISCO-RVCE-IOT</a:t>
            </a:r>
            <a:endParaRPr lang="en-US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35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IN" dirty="0"/>
              <a:t>Table of Contents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>
            <a:normAutofit fontScale="85000" lnSpcReduction="20000"/>
          </a:bodyPr>
          <a:lstStyle/>
          <a:p>
            <a:endParaRPr lang="en-IN" sz="18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r>
              <a:rPr lang="en-IN" b="1" dirty="0"/>
              <a:t>Title &amp; Introduction</a:t>
            </a:r>
            <a:endParaRPr lang="en-IN" b="1" dirty="0"/>
          </a:p>
          <a:p>
            <a:r>
              <a:rPr lang="en-IN" b="1" dirty="0"/>
              <a:t>Organization Profile &amp; Work Environment</a:t>
            </a:r>
            <a:endParaRPr lang="en-IN" b="1" dirty="0"/>
          </a:p>
          <a:p>
            <a:r>
              <a:rPr lang="en-IN" b="1" dirty="0"/>
              <a:t>Processes, Products &amp; Technology Stack</a:t>
            </a:r>
            <a:endParaRPr lang="en-IN" b="1" dirty="0"/>
          </a:p>
          <a:p>
            <a:r>
              <a:rPr lang="en-IN" b="1" dirty="0"/>
              <a:t>Communication &amp; Research Activities</a:t>
            </a:r>
            <a:endParaRPr lang="en-IN" b="1" dirty="0"/>
          </a:p>
          <a:p>
            <a:r>
              <a:rPr lang="en-US" b="1" dirty="0"/>
              <a:t>Teamwork &amp; Leadership in Project Execution</a:t>
            </a:r>
            <a:endParaRPr lang="en-US" b="1" dirty="0"/>
          </a:p>
          <a:p>
            <a:r>
              <a:rPr lang="en-IN" b="1" dirty="0"/>
              <a:t>Analytical Thinking &amp; Problem Solving</a:t>
            </a:r>
            <a:endParaRPr lang="en-IN" b="1" dirty="0"/>
          </a:p>
          <a:p>
            <a:r>
              <a:rPr lang="en-IN" b="1" dirty="0"/>
              <a:t>Ethical &amp; Professional Practices</a:t>
            </a:r>
            <a:endParaRPr lang="en-IN" b="1" dirty="0"/>
          </a:p>
          <a:p>
            <a:r>
              <a:rPr lang="en-US" b="1" dirty="0"/>
              <a:t>Technical Skills and Tools Mastered</a:t>
            </a:r>
            <a:endParaRPr lang="en-US" b="1" dirty="0"/>
          </a:p>
          <a:p>
            <a:r>
              <a:rPr lang="en-IN" b="1" dirty="0"/>
              <a:t>Innovation, Creativity &amp; Field Relevance</a:t>
            </a:r>
            <a:endParaRPr lang="en-IN" b="1" dirty="0"/>
          </a:p>
          <a:p>
            <a:r>
              <a:rPr lang="en-IN" b="1" dirty="0"/>
              <a:t>Conclusion &amp; Key Learnings</a:t>
            </a:r>
            <a:endParaRPr lang="en-IN" b="1" dirty="0"/>
          </a:p>
          <a:p>
            <a:pPr algn="l"/>
            <a:endParaRPr lang="en-IN" b="1" dirty="0"/>
          </a:p>
          <a:p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6215"/>
            <a:ext cx="1259840" cy="12515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b="1" dirty="0"/>
              <a:t>Title &amp; Introduction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235" y="1556385"/>
            <a:ext cx="8536940" cy="482092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LoRa-Based Multi-Node Environmental Monitoring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Sudarshan T 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(1RV24S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IT14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&amp; 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Rohan A 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(1RV24SSE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Renuka Prasad 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Dept of 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MCA</a:t>
            </a:r>
            <a:endParaRPr lang="en-I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Environmental Monitoring: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ystem uses LoRa (Long Range) technology to collect sensor data from multiple nodes and transmit it to a central gateway without cellular networks or WiFi dependency.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Multi-Sensor Data Collection: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node gathers comprehensive environmental data including temperature, pressure, altitude, GPS location, and battery status for complete situational awareness.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Alert System: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Automated smart alerts detect falls, sudden movements, low battery, and node offline conditions, ensuring immediate response to critical events.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6215"/>
            <a:ext cx="1259840" cy="12515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en-US" b="1" dirty="0"/>
              <a:t>Key Features &amp; Benefits</a:t>
            </a:r>
            <a:endParaRPr lang="en-US" alt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235" y="1556385"/>
            <a:ext cx="8536940" cy="482092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Long-range communication (up to 10km rural, 2km urban)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Battery-powered nodes with months of operation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 for real-time monitoring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tracking with interactive maps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 card data logging and cloud synchronization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alert system with buzzer notifications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remote monitoring solution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power consumption for extended deployment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architecture supporting multiple nodes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visibility through web interface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performance in challenging environments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6215"/>
            <a:ext cx="1259840" cy="12515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Organization Profile </a:t>
            </a:r>
            <a:br>
              <a:rPr lang="en-US" sz="3200" b="1" dirty="0"/>
            </a:br>
            <a:r>
              <a:rPr lang="en-US" sz="3200" b="1" dirty="0"/>
              <a:t>&amp; Work Environment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CISCO – RVCE Center of Excellence in Internet of Things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charset="0"/>
              <a:buChar char="§"/>
              <a:defRPr sz="1800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innovation hub focusing on IoT research and practical applications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charset="0"/>
              <a:buChar char="§"/>
              <a:defRPr sz="1800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Transforms academic concepts into real-world IoT solutions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charset="0"/>
              <a:buChar char="§"/>
              <a:defRPr sz="1800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Research-driven environment promoting innovation and hands-on learning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charset="0"/>
              <a:buChar char="§"/>
              <a:defRPr sz="1800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Industry-academia partnership for cutting-edge technology development</a:t>
            </a: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800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Focus: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LoRa-based Environmental Monitoring System using IoT sensors and wireless communication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6215"/>
            <a:ext cx="1259840" cy="12515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z="3600" b="1" dirty="0"/>
              <a:t>Development Process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875"/>
            <a:ext cx="8229600" cy="1817370"/>
          </a:xfrm>
        </p:spPr>
        <p:txBody>
          <a:bodyPr>
            <a:noAutofit/>
          </a:bodyPr>
          <a:lstStyle/>
          <a:p>
            <a:pPr marL="0" indent="0">
              <a:buFont typeface="+mj-lt"/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Approach: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Methodology with iterative development cycles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Design for independent development of nodes and dashboard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Testing at each integration point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Phases: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6215"/>
            <a:ext cx="1259840" cy="125158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99160" y="3284220"/>
            <a:ext cx="752221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Requirement Analysis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Identified need for long-range, low-power environmental monitoring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Defined sensor parameters and communication protocols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Established alert thresholds and data storage requirements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Hardware Design &amp; Prototyping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Designed master and slave node architectures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Selected appropriate sensors and LoRa modules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Prototyped and tested individual components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z="3600" b="1" dirty="0"/>
              <a:t>Development Process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875"/>
            <a:ext cx="8229600" cy="4966970"/>
          </a:xfrm>
        </p:spPr>
        <p:txBody>
          <a:bodyPr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Firmware Development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charset="0"/>
              <a:buChar char="§"/>
            </a:pPr>
            <a:r>
              <a:rPr lang="en-US" alt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ESP32 code for both master and slave nodes</a:t>
            </a:r>
            <a:endParaRPr lang="en-US" alt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charset="0"/>
              <a:buChar char="§"/>
            </a:pPr>
            <a:r>
              <a:rPr lang="en-US" alt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LoRa communication protocol</a:t>
            </a:r>
            <a:endParaRPr lang="en-US" alt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charset="0"/>
              <a:buChar char="§"/>
            </a:pPr>
            <a:r>
              <a:rPr lang="en-US" alt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GPS and sensor data collection</a:t>
            </a:r>
            <a:endParaRPr lang="en-US" alt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Integration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charset="0"/>
              <a:buChar char="§"/>
            </a:pPr>
            <a:r>
              <a:rPr lang="en-US" alt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Python Flask dashboard for real-time monitoring</a:t>
            </a:r>
            <a:endParaRPr lang="en-US" alt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charset="0"/>
              <a:buChar char="§"/>
            </a:pPr>
            <a:r>
              <a:rPr lang="en-US" alt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web interface with mapping and data visualization</a:t>
            </a:r>
            <a:endParaRPr lang="en-US" alt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charset="0"/>
              <a:buChar char="§"/>
            </a:pPr>
            <a:r>
              <a:rPr lang="en-US" alt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cloud synchronization capabilities</a:t>
            </a:r>
            <a:endParaRPr lang="en-US" alt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Deployment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charset="0"/>
              <a:buChar char="§"/>
            </a:pPr>
            <a:r>
              <a:rPr lang="en-US" alt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of sensor accuracy and battery life</a:t>
            </a:r>
            <a:endParaRPr lang="en-US" alt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charset="0"/>
              <a:buChar char="§"/>
            </a:pPr>
            <a:r>
              <a:rPr lang="en-US" alt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of complete monitoring network</a:t>
            </a:r>
            <a:endParaRPr lang="en-US" alt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6215"/>
            <a:ext cx="1259840" cy="12515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IN" sz="3600" b="1" dirty="0"/>
              <a:t>Product Overview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360" y="1447800"/>
            <a:ext cx="8229600" cy="4525963"/>
          </a:xfrm>
        </p:spPr>
        <p:txBody>
          <a:bodyPr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Components: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Node: Central hub with web dashboard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Slave Nodes: Remote sensor units (1-3 nodes)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Interface: Real-time monitoring dashboard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Functions: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data collection (temp, pressure, altitude)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location tracking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alerts and notifications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logging and cloud sync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Ready: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Battery-powered for remote areas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Long-range communication (2-10km)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Weather-resistant design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6215"/>
            <a:ext cx="1259840" cy="12515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IN" sz="3600" b="1" dirty="0"/>
              <a:t>Technology Stack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4220" y="1125855"/>
            <a:ext cx="8229600" cy="4525963"/>
          </a:xfrm>
        </p:spPr>
        <p:txBody>
          <a:bodyPr>
            <a:noAutofit/>
          </a:bodyPr>
          <a:lstStyle/>
          <a:p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Components: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Microcontrollers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SX127x LoRa Modules (433MHz)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BMP280/BMP085 Sensors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Modules (NEO-6M)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 Card Modules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&amp; Protocols: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C++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(Node Firmware)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Flask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3.1.2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(Web Dashboard)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LoRa Communication Protocol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Technologies: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HTML/CSS/JavaScript Dashboard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Folium for Interactive Maps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RESTful API Architecture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&amp; Storage: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Ubidots Cloud Platform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SD Card Storage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195" y="-125730"/>
            <a:ext cx="1259840" cy="12515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b="1" dirty="0"/>
              <a:t>Communication </a:t>
            </a:r>
            <a:br>
              <a:rPr lang="en-US" b="1" dirty="0"/>
            </a:br>
            <a:r>
              <a:rPr lang="en-US" b="1" dirty="0"/>
              <a:t>&amp; Research Activities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916832"/>
            <a:ext cx="8229600" cy="4525963"/>
          </a:xfrm>
        </p:spPr>
        <p:txBody>
          <a:bodyPr>
            <a:normAutofit fontScale="70000"/>
          </a:bodyPr>
          <a:lstStyle/>
          <a:p>
            <a:pPr marL="0" indent="0">
              <a:buNone/>
            </a:pPr>
            <a:r>
              <a:rPr lang="en-US" altLang="en-US" sz="285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Coordination:</a:t>
            </a:r>
            <a:endParaRPr lang="en-US" altLang="en-US" sz="28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charset="0"/>
              <a:buChar char="§"/>
            </a:pPr>
            <a:r>
              <a:rPr lang="en-US" altLang="en-US" sz="28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team meetings for progress tracking</a:t>
            </a:r>
            <a:endParaRPr lang="en-US" altLang="en-US" sz="28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charset="0"/>
              <a:buChar char="§"/>
            </a:pPr>
            <a:r>
              <a:rPr lang="en-US" altLang="en-US" sz="28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GitHub repository for code collaboration</a:t>
            </a:r>
            <a:endParaRPr lang="en-US" altLang="en-US" sz="28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charset="0"/>
              <a:buChar char="§"/>
            </a:pPr>
            <a:r>
              <a:rPr lang="en-US" altLang="en-US" sz="28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and report writing sessions</a:t>
            </a:r>
            <a:endParaRPr lang="en-US" altLang="en-US" sz="28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charset="0"/>
              <a:buChar char="§"/>
            </a:pPr>
            <a:r>
              <a:rPr lang="en-US" altLang="en-US" sz="28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consultations for technical guidance</a:t>
            </a:r>
            <a:endParaRPr lang="en-US" altLang="en-US" sz="28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charset="0"/>
              <a:buChar char="§"/>
            </a:pPr>
            <a:endParaRPr lang="en-US" altLang="en-US" sz="28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Font typeface="Wingdings" panose="05000000000000000000" charset="0"/>
              <a:buNone/>
            </a:pPr>
            <a:r>
              <a:rPr lang="en-US" altLang="en-US" sz="285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&amp; Learning:</a:t>
            </a:r>
            <a:endParaRPr lang="en-US" altLang="en-US" sz="28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charset="0"/>
              <a:buChar char="§"/>
            </a:pPr>
            <a:r>
              <a:rPr lang="en-US" altLang="en-US" sz="28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LoRa technology and wireless communication</a:t>
            </a:r>
            <a:endParaRPr lang="en-US" altLang="en-US" sz="28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charset="0"/>
              <a:buChar char="§"/>
            </a:pPr>
            <a:r>
              <a:rPr lang="en-US" altLang="en-US" sz="28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Researched ESP32 capabilities and sensor integration</a:t>
            </a:r>
            <a:endParaRPr lang="en-US" altLang="en-US" sz="28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charset="0"/>
              <a:buChar char="§"/>
            </a:pPr>
            <a:r>
              <a:rPr lang="en-US" altLang="en-US" sz="28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about GPS modules and location tracking</a:t>
            </a:r>
            <a:endParaRPr lang="en-US" altLang="en-US" sz="28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charset="0"/>
              <a:buChar char="§"/>
            </a:pPr>
            <a:r>
              <a:rPr lang="en-US" altLang="en-US" sz="28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Investigated power management for battery-operated devices</a:t>
            </a:r>
            <a:endParaRPr lang="en-US" altLang="en-US" sz="28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6215"/>
            <a:ext cx="1259840" cy="12515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b="1" dirty="0"/>
              <a:t>Teamwork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5686"/>
            <a:ext cx="8229600" cy="4929079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I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Sudarshan T 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Project Development Lead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I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Rohan A 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Testing &amp; Documentation Lead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Roles: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Lead: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integration, firmware development, dashboard creation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Lead: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validation, documentation, field testing, reports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coordination and code reviews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hardware assembly and debugging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Joint integration and problem-solving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6215"/>
            <a:ext cx="1259840" cy="12515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b="1" dirty="0"/>
              <a:t>Analytical Thinking </a:t>
            </a:r>
            <a:br>
              <a:rPr lang="en-US" b="1" dirty="0"/>
            </a:br>
            <a:r>
              <a:rPr lang="en-US" b="1" dirty="0"/>
              <a:t>&amp; Problem Solving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844824"/>
            <a:ext cx="8229600" cy="4525963"/>
          </a:xfrm>
        </p:spPr>
        <p:txBody>
          <a:bodyPr>
            <a:normAutofit fontScale="70000"/>
          </a:bodyPr>
          <a:lstStyle/>
          <a:p>
            <a:pPr algn="just"/>
            <a:r>
              <a:rPr lang="en-US" altLang="en-US" sz="285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 &amp; Solutions:</a:t>
            </a:r>
            <a:endParaRPr lang="en-US" altLang="en-US" sz="28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sz="28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LoRa </a:t>
            </a:r>
            <a:r>
              <a:rPr lang="en-IN" altLang="en-US" sz="28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</a:t>
            </a:r>
            <a:r>
              <a:rPr lang="en-US" altLang="en-US" sz="28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 → Optimized antenna placement</a:t>
            </a:r>
            <a:r>
              <a:rPr lang="en-IN" altLang="en-US" sz="28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28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transmission power</a:t>
            </a:r>
            <a:r>
              <a:rPr lang="en-IN" altLang="en-US" sz="28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protocol.</a:t>
            </a:r>
            <a:endParaRPr lang="en-US" altLang="en-US" sz="28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sz="28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Signal Problems → Implemented fallback coordinates system</a:t>
            </a:r>
            <a:endParaRPr lang="en-US" altLang="en-US" sz="28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sz="28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Monitoring → Designed voltage divider circuit with calibration</a:t>
            </a:r>
            <a:endParaRPr lang="en-US" altLang="en-US" sz="28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sz="28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Synchronization → Created dual storage (SD card + cloud)</a:t>
            </a:r>
            <a:endParaRPr lang="en-US" altLang="en-US" sz="28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sz="28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 → Developed real-time updates with Flask</a:t>
            </a:r>
            <a:endParaRPr lang="en-US" altLang="en-US" sz="28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8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5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Problem-Solving Approach:</a:t>
            </a:r>
            <a:endParaRPr lang="en-US" altLang="en-US" sz="28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sz="28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Systematic testing and debugging</a:t>
            </a:r>
            <a:endParaRPr lang="en-US" altLang="en-US" sz="28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sz="28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hardware improvements</a:t>
            </a:r>
            <a:endParaRPr lang="en-US" altLang="en-US" sz="28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sz="28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optimization for reliability</a:t>
            </a:r>
            <a:endParaRPr lang="en-US" altLang="en-US" sz="28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6215"/>
            <a:ext cx="1259840" cy="12515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b="1" dirty="0"/>
              <a:t>Ethical &amp; </a:t>
            </a:r>
            <a:br>
              <a:rPr lang="en-US" b="1" dirty="0"/>
            </a:br>
            <a:r>
              <a:rPr lang="en-US" b="1" dirty="0"/>
              <a:t>Professional Practices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217" y="1668462"/>
            <a:ext cx="8229600" cy="4525963"/>
          </a:xfrm>
        </p:spPr>
        <p:txBody>
          <a:bodyPr>
            <a:noAutofit/>
          </a:bodyPr>
          <a:lstStyle/>
          <a:p>
            <a:r>
              <a:rPr lang="en-US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Compliance: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433MHz ISM band usage (license-free)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Adherence to transmission power regulations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frequency allocation and duty cycling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Ethics: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data transmission and storage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privacy in location tracking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Transparent data collection practices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Standards: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integrity in project development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attribution of open-source resources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protocols in hardware deployment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responsibility in electronics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6215"/>
            <a:ext cx="1259840" cy="12515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-5397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b="1" dirty="0"/>
              <a:t>Technical Skills </a:t>
            </a:r>
            <a:br>
              <a:rPr lang="en-US" b="1" dirty="0"/>
            </a:br>
            <a:r>
              <a:rPr lang="en-US" b="1" dirty="0"/>
              <a:t>and Tools Mastered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414041"/>
            <a:ext cx="8229600" cy="452596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programming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LoRa module configuration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&amp; sensor integration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management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C++ (firmware)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Flask (dashboard)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APIs &amp; WebSocket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6215"/>
            <a:ext cx="1259840" cy="125158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004435" y="1412875"/>
            <a:ext cx="3628390" cy="1876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ools: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Arduino IDE, VS Code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GitHub, Ubidots IoT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Folium mapping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b="1" dirty="0"/>
              <a:t>Innovation, Creativity</a:t>
            </a:r>
            <a:br>
              <a:rPr lang="en-US" b="1" dirty="0"/>
            </a:br>
            <a:r>
              <a:rPr lang="en-US" b="1" dirty="0"/>
              <a:t> &amp; Field Relevance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445" y="1486050"/>
            <a:ext cx="8229600" cy="381642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Innovations: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Two-way LoRa communication protocol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Master-slave polling architecture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retry mechanism for packet loss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Fallback GPS with Bangalore coordinates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Creative Solutions: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 with real-time maps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Multi-level alert system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 data storage (SD + Cloud)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optimization techniques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 Relevance: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monitoring applications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Disaster management systems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6215"/>
            <a:ext cx="1259840" cy="12515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b="1" dirty="0"/>
              <a:t>Conclusion </a:t>
            </a:r>
            <a:br>
              <a:rPr lang="en-US" b="1" dirty="0"/>
            </a:br>
            <a:r>
              <a:rPr lang="en-US" b="1" dirty="0"/>
              <a:t>&amp; Key Learnings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777047"/>
            <a:ext cx="8229600" cy="452596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charset="0"/>
              <a:buChar char="§"/>
            </a:pPr>
            <a:r>
              <a:rPr lang="en-US" altLang="en-US" sz="2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hands-on experience in IoT system development with ESP32 and LoRa communication</a:t>
            </a:r>
            <a:endParaRPr lang="en-US" altLang="en-US" sz="2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charset="0"/>
              <a:buChar char="§"/>
            </a:pPr>
            <a:r>
              <a:rPr lang="en-US" altLang="en-US" sz="2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Overcame wireless communication challenges through protocol optimization and testing</a:t>
            </a:r>
            <a:endParaRPr lang="en-US" altLang="en-US" sz="2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charset="0"/>
              <a:buChar char="§"/>
            </a:pPr>
            <a:r>
              <a:rPr lang="en-US" altLang="en-US" sz="2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technical problem-solving skills in hardware-software integration</a:t>
            </a:r>
            <a:endParaRPr lang="en-US" altLang="en-US" sz="2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charset="0"/>
              <a:buChar char="§"/>
            </a:pPr>
            <a:r>
              <a:rPr lang="en-US" altLang="en-US" sz="2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professional collaboration abilities in team-based project execution</a:t>
            </a:r>
            <a:endParaRPr lang="en-US" altLang="en-US" sz="2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6215"/>
            <a:ext cx="1259840" cy="12515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95605" y="28575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IN" altLang="en-US" b="1" dirty="0"/>
              <a:t>Thank You</a:t>
            </a:r>
            <a:endParaRPr lang="en-IN" alt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6215"/>
            <a:ext cx="1259840" cy="12515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Thripurasri's Internship Review</Template>
  <TotalTime>0</TotalTime>
  <Words>7510</Words>
  <Application>WPS Presentation</Application>
  <PresentationFormat>On-screen Show (4:3)</PresentationFormat>
  <Paragraphs>238</Paragraphs>
  <Slides>17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SimSun</vt:lpstr>
      <vt:lpstr>Wingdings</vt:lpstr>
      <vt:lpstr>Times New Roman</vt:lpstr>
      <vt:lpstr>Arial</vt:lpstr>
      <vt:lpstr>Calibri</vt:lpstr>
      <vt:lpstr>Trebuchet MS</vt:lpstr>
      <vt:lpstr>Wingdings</vt:lpstr>
      <vt:lpstr>Microsoft YaHei</vt:lpstr>
      <vt:lpstr>Arial Unicode MS</vt:lpstr>
      <vt:lpstr>Calibri</vt:lpstr>
      <vt:lpstr>Office Theme</vt:lpstr>
      <vt:lpstr>M.Tech. in Information Technology Internship Evaluation (AY: 2025-26) Review-1 (MIT434N) IoT LoRa-Based Multi-Node Environmental Monitoring and Alert System with GPS Tracking </vt:lpstr>
      <vt:lpstr>Table of Contents</vt:lpstr>
      <vt:lpstr>Title &amp; Introduction</vt:lpstr>
      <vt:lpstr>Key Features &amp; Benefits</vt:lpstr>
      <vt:lpstr>Organization Profile  &amp; Work Environment</vt:lpstr>
      <vt:lpstr>Development Process</vt:lpstr>
      <vt:lpstr>Development Process</vt:lpstr>
      <vt:lpstr>Product Overview</vt:lpstr>
      <vt:lpstr>Technology Stack</vt:lpstr>
      <vt:lpstr>Communication  &amp; Research Activities</vt:lpstr>
      <vt:lpstr>Teamwork</vt:lpstr>
      <vt:lpstr>Analytical Thinking  &amp; Problem Solving</vt:lpstr>
      <vt:lpstr>Ethical &amp;  Professional Practices</vt:lpstr>
      <vt:lpstr>Technical Skills  and Tools Mastered</vt:lpstr>
      <vt:lpstr>Innovation, Creativity  &amp; Field Relevance</vt:lpstr>
      <vt:lpstr>Conclusion  &amp; Key Learnings</vt:lpstr>
      <vt:lpstr>Conclusion  &amp; Key Learnings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Thripurasri S</dc:creator>
  <cp:lastModifiedBy>Sudarshan Acharya</cp:lastModifiedBy>
  <cp:revision>7</cp:revision>
  <dcterms:created xsi:type="dcterms:W3CDTF">2025-10-27T11:24:00Z</dcterms:created>
  <dcterms:modified xsi:type="dcterms:W3CDTF">2025-12-12T09:05:07Z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5AF1D2CE34DB4F84996096FAE5A908CD_13</vt:lpwstr>
  </property>
  <property fmtid="{D5CDD505-2E9C-101B-9397-08002B2CF9AE}" pid="3" name="KSOProductBuildVer">
    <vt:lpwstr>1033-12.2.0.23158</vt:lpwstr>
  </property>
</Properties>
</file>